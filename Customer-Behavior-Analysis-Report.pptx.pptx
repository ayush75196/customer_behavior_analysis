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verpass Bold" charset="1" panose="00000000000000000000"/>
      <p:regular r:id="rId19"/>
    </p:embeddedFont>
    <p:embeddedFont>
      <p:font typeface="Overpass" charset="1" panose="00000000000000000000"/>
      <p:regular r:id="rId20"/>
    </p:embeddedFont>
    <p:embeddedFont>
      <p:font typeface="Overpass Light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8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05159" y="3541214"/>
            <a:ext cx="9335691" cy="177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Customer Behavior Analysis Report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05159" y="5673776"/>
            <a:ext cx="9335691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Comprehensive SQL-Driven Insights from Customer Shopping Behavior Dataset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2433638"/>
            <a:ext cx="7040613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Executive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4223595"/>
            <a:ext cx="3767880" cy="84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sz="7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$136,620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0984" y="5432374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Total Revenue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9" y="5966069"/>
            <a:ext cx="3767880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+8.2% growth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89039" y="4223595"/>
            <a:ext cx="3767880" cy="84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sz="7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3,900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12864" y="5432374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Total Customers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0928" y="4223595"/>
            <a:ext cx="3767880" cy="84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sz="7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$59.64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54753" y="5432374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Avg Purchase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30928" y="5966069"/>
            <a:ext cx="3767880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+2.1% increase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72817" y="4223595"/>
            <a:ext cx="3768033" cy="844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0"/>
              </a:lnSpc>
            </a:pPr>
            <a:r>
              <a:rPr lang="en-US" sz="7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61.1%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96642" y="5432374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Subscribed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72817" y="5966069"/>
            <a:ext cx="3768033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+4% growth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7159" y="6781352"/>
            <a:ext cx="16193691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Female customers drive 52.2% of revenue ($71,280). Subscribers spend 9% more and generate 61% of total revenue. The 26-45 age group contributes 45% of revenue.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4735" y="760809"/>
            <a:ext cx="6755159" cy="872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Revenue by Gender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534223" y="2356695"/>
            <a:ext cx="5276850" cy="6848475"/>
            <a:chOff x="0" y="0"/>
            <a:chExt cx="7035800" cy="91313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035800" cy="9131300"/>
            </a:xfrm>
            <a:custGeom>
              <a:avLst/>
              <a:gdLst/>
              <a:ahLst/>
              <a:cxnLst/>
              <a:rect r="r" b="b" t="t" l="l"/>
              <a:pathLst>
                <a:path h="9131300" w="7035800">
                  <a:moveTo>
                    <a:pt x="0" y="0"/>
                  </a:moveTo>
                  <a:lnTo>
                    <a:pt x="7035800" y="0"/>
                  </a:lnTo>
                  <a:lnTo>
                    <a:pt x="7035800" y="9131300"/>
                  </a:lnTo>
                  <a:lnTo>
                    <a:pt x="0" y="9131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50468" y="3866559"/>
            <a:ext cx="3377508" cy="43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Key 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50468" y="4497286"/>
            <a:ext cx="5242169" cy="20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499"/>
              </a:lnSpc>
              <a:buFont typeface="Arial"/>
              <a:buChar char="•"/>
            </a:pPr>
            <a:r>
              <a:rPr lang="en-US" sz="2249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Female: $71,280 (52.2%)</a:t>
            </a:r>
          </a:p>
          <a:p>
            <a:pPr algn="l" marL="339328" indent="-169664" lvl="1">
              <a:lnSpc>
                <a:spcPts val="3499"/>
              </a:lnSpc>
              <a:buFont typeface="Arial"/>
              <a:buChar char="•"/>
            </a:pPr>
            <a:r>
              <a:rPr lang="en-US" sz="2249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Male: $65,340 (47.8%)</a:t>
            </a:r>
          </a:p>
          <a:p>
            <a:pPr algn="l" marL="339328" indent="-169664" lvl="1">
              <a:lnSpc>
                <a:spcPts val="3499"/>
              </a:lnSpc>
              <a:buFont typeface="Arial"/>
              <a:buChar char="•"/>
            </a:pPr>
            <a:r>
              <a:rPr lang="en-US" sz="2249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Female customers contribute ~$6K more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50468" y="6737299"/>
            <a:ext cx="5242169" cy="97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249" b="true">
                <a:solidFill>
                  <a:srgbClr val="F20374"/>
                </a:solidFill>
                <a:latin typeface="Overpass Bold"/>
                <a:ea typeface="Overpass Bold"/>
                <a:cs typeface="Overpass Bold"/>
                <a:sym typeface="Overpass Bold"/>
              </a:rPr>
              <a:t>Insight:</a:t>
            </a:r>
            <a:r>
              <a:rPr lang="en-US" sz="2249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Targeted promotions toward female shoppers could amplify this gap.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30929" y="795928"/>
            <a:ext cx="8607628" cy="894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High-Value Discount Users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2759" y="4299795"/>
            <a:ext cx="3623224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9"/>
              </a:lnSpc>
            </a:pPr>
            <a:r>
              <a:rPr lang="en-US" sz="5749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45%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05090" y="2344341"/>
            <a:ext cx="4418705" cy="4418705"/>
            <a:chOff x="0" y="0"/>
            <a:chExt cx="5891606" cy="589160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891657" cy="5891657"/>
            </a:xfrm>
            <a:custGeom>
              <a:avLst/>
              <a:gdLst/>
              <a:ahLst/>
              <a:cxnLst/>
              <a:rect r="r" b="b" t="t" l="l"/>
              <a:pathLst>
                <a:path h="5891657" w="5891657">
                  <a:moveTo>
                    <a:pt x="0" y="0"/>
                  </a:moveTo>
                  <a:lnTo>
                    <a:pt x="5891657" y="0"/>
                  </a:lnTo>
                  <a:lnTo>
                    <a:pt x="5891657" y="5891657"/>
                  </a:lnTo>
                  <a:lnTo>
                    <a:pt x="0" y="589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99009" y="7116966"/>
            <a:ext cx="4030713" cy="44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Customers with Discount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929" y="7647984"/>
            <a:ext cx="5167017" cy="55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1,755 customers applied discounts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32164" y="4299795"/>
            <a:ext cx="3623224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9"/>
              </a:lnSpc>
            </a:pPr>
            <a:r>
              <a:rPr lang="en-US" sz="5749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50.8%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934495" y="2344341"/>
            <a:ext cx="4418705" cy="4418705"/>
            <a:chOff x="0" y="0"/>
            <a:chExt cx="5891606" cy="589160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891657" cy="5891657"/>
            </a:xfrm>
            <a:custGeom>
              <a:avLst/>
              <a:gdLst/>
              <a:ahLst/>
              <a:cxnLst/>
              <a:rect r="r" b="b" t="t" l="l"/>
              <a:pathLst>
                <a:path h="5891657" w="5891657">
                  <a:moveTo>
                    <a:pt x="0" y="0"/>
                  </a:moveTo>
                  <a:lnTo>
                    <a:pt x="5891657" y="0"/>
                  </a:lnTo>
                  <a:lnTo>
                    <a:pt x="5891657" y="5891657"/>
                  </a:lnTo>
                  <a:lnTo>
                    <a:pt x="0" y="589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411041" y="7116966"/>
            <a:ext cx="3465614" cy="44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Spending ≥ Average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60344" y="7647984"/>
            <a:ext cx="5167160" cy="55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892 high-value discount users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1722" y="4299795"/>
            <a:ext cx="3623224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9"/>
              </a:lnSpc>
            </a:pPr>
            <a:r>
              <a:rPr lang="en-US" sz="5749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$74.20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64053" y="2344341"/>
            <a:ext cx="4418705" cy="4418705"/>
            <a:chOff x="0" y="0"/>
            <a:chExt cx="5891606" cy="5891606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891657" cy="5891657"/>
            </a:xfrm>
            <a:custGeom>
              <a:avLst/>
              <a:gdLst/>
              <a:ahLst/>
              <a:cxnLst/>
              <a:rect r="r" b="b" t="t" l="l"/>
              <a:pathLst>
                <a:path h="5891657" w="5891657">
                  <a:moveTo>
                    <a:pt x="0" y="0"/>
                  </a:moveTo>
                  <a:lnTo>
                    <a:pt x="5891657" y="0"/>
                  </a:lnTo>
                  <a:lnTo>
                    <a:pt x="5891657" y="5891657"/>
                  </a:lnTo>
                  <a:lnTo>
                    <a:pt x="0" y="5891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940608" y="7116966"/>
            <a:ext cx="3465614" cy="44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Avg Purchase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89902" y="7647984"/>
            <a:ext cx="5167160" cy="55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Among discount users above average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0929" y="8441684"/>
            <a:ext cx="16226133" cy="102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12" b="true">
                <a:solidFill>
                  <a:srgbClr val="F20374"/>
                </a:solidFill>
                <a:latin typeface="Overpass Bold"/>
                <a:ea typeface="Overpass Bold"/>
                <a:cs typeface="Overpass Bold"/>
                <a:sym typeface="Overpass Bold"/>
              </a:rPr>
              <a:t>Insight:</a:t>
            </a: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Over half of discount users spend above average ($59.64), generating $66,186 in revenue. Discounts successfully attract high-value buyers without hurting margins.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85955" y="401841"/>
            <a:ext cx="4082501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Top 5 Products by Rating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85955" y="1000868"/>
            <a:ext cx="7153275" cy="6705600"/>
            <a:chOff x="0" y="0"/>
            <a:chExt cx="9537700" cy="89408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537700" cy="8940800"/>
            </a:xfrm>
            <a:custGeom>
              <a:avLst/>
              <a:gdLst/>
              <a:ahLst/>
              <a:cxnLst/>
              <a:rect r="r" b="b" t="t" l="l"/>
              <a:pathLst>
                <a:path h="8940800" w="9537700">
                  <a:moveTo>
                    <a:pt x="0" y="0"/>
                  </a:moveTo>
                  <a:lnTo>
                    <a:pt x="9537700" y="0"/>
                  </a:lnTo>
                  <a:lnTo>
                    <a:pt x="9537700" y="8940800"/>
                  </a:lnTo>
                  <a:lnTo>
                    <a:pt x="0" y="894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285955" y="8014840"/>
            <a:ext cx="3188789" cy="986876"/>
            <a:chOff x="0" y="0"/>
            <a:chExt cx="4251719" cy="1315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51706" cy="1315847"/>
            </a:xfrm>
            <a:custGeom>
              <a:avLst/>
              <a:gdLst/>
              <a:ahLst/>
              <a:cxnLst/>
              <a:rect r="r" b="b" t="t" l="l"/>
              <a:pathLst>
                <a:path h="1315847" w="4251706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129786" y="0"/>
                  </a:lnTo>
                  <a:cubicBezTo>
                    <a:pt x="4197096" y="0"/>
                    <a:pt x="4251706" y="54610"/>
                    <a:pt x="4251706" y="121920"/>
                  </a:cubicBezTo>
                  <a:lnTo>
                    <a:pt x="4251706" y="1193927"/>
                  </a:lnTo>
                  <a:cubicBezTo>
                    <a:pt x="4251706" y="1261237"/>
                    <a:pt x="4197096" y="1315847"/>
                    <a:pt x="4129786" y="1315847"/>
                  </a:cubicBezTo>
                  <a:lnTo>
                    <a:pt x="121920" y="1315847"/>
                  </a:lnTo>
                  <a:cubicBezTo>
                    <a:pt x="54610" y="1315847"/>
                    <a:pt x="0" y="1261237"/>
                    <a:pt x="0" y="1193927"/>
                  </a:cubicBez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285955" y="7995790"/>
            <a:ext cx="3188789" cy="76200"/>
            <a:chOff x="0" y="0"/>
            <a:chExt cx="4251719" cy="101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51706" cy="101600"/>
            </a:xfrm>
            <a:custGeom>
              <a:avLst/>
              <a:gdLst/>
              <a:ahLst/>
              <a:cxnLst/>
              <a:rect r="r" b="b" t="t" l="l"/>
              <a:pathLst>
                <a:path h="101600" w="4251706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4200906" y="0"/>
                  </a:lnTo>
                  <a:cubicBezTo>
                    <a:pt x="4228973" y="0"/>
                    <a:pt x="4251706" y="22733"/>
                    <a:pt x="4251706" y="50800"/>
                  </a:cubicBezTo>
                  <a:cubicBezTo>
                    <a:pt x="4251706" y="78867"/>
                    <a:pt x="4228973" y="101600"/>
                    <a:pt x="4200906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F2037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655993" y="7790555"/>
            <a:ext cx="448713" cy="448713"/>
            <a:chOff x="0" y="0"/>
            <a:chExt cx="598284" cy="5982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F2037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790533" y="7912303"/>
            <a:ext cx="179489" cy="21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54576" y="8398373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Blouse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54576" y="8653615"/>
            <a:ext cx="2851547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4.01★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49458" y="8014840"/>
            <a:ext cx="3188789" cy="986876"/>
            <a:chOff x="0" y="0"/>
            <a:chExt cx="4251719" cy="13158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51706" cy="1315847"/>
            </a:xfrm>
            <a:custGeom>
              <a:avLst/>
              <a:gdLst/>
              <a:ahLst/>
              <a:cxnLst/>
              <a:rect r="r" b="b" t="t" l="l"/>
              <a:pathLst>
                <a:path h="1315847" w="4251706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129786" y="0"/>
                  </a:lnTo>
                  <a:cubicBezTo>
                    <a:pt x="4197096" y="0"/>
                    <a:pt x="4251706" y="54610"/>
                    <a:pt x="4251706" y="121920"/>
                  </a:cubicBezTo>
                  <a:lnTo>
                    <a:pt x="4251706" y="1193927"/>
                  </a:lnTo>
                  <a:cubicBezTo>
                    <a:pt x="4251706" y="1261237"/>
                    <a:pt x="4197096" y="1315847"/>
                    <a:pt x="4129786" y="1315847"/>
                  </a:cubicBezTo>
                  <a:lnTo>
                    <a:pt x="121920" y="1315847"/>
                  </a:lnTo>
                  <a:cubicBezTo>
                    <a:pt x="54610" y="1315847"/>
                    <a:pt x="0" y="1261237"/>
                    <a:pt x="0" y="1193927"/>
                  </a:cubicBez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549458" y="7995790"/>
            <a:ext cx="3188789" cy="76200"/>
            <a:chOff x="0" y="0"/>
            <a:chExt cx="4251719" cy="10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51706" cy="101600"/>
            </a:xfrm>
            <a:custGeom>
              <a:avLst/>
              <a:gdLst/>
              <a:ahLst/>
              <a:cxnLst/>
              <a:rect r="r" b="b" t="t" l="l"/>
              <a:pathLst>
                <a:path h="101600" w="4251706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4200906" y="0"/>
                  </a:lnTo>
                  <a:cubicBezTo>
                    <a:pt x="4228973" y="0"/>
                    <a:pt x="4251706" y="22733"/>
                    <a:pt x="4251706" y="50800"/>
                  </a:cubicBezTo>
                  <a:cubicBezTo>
                    <a:pt x="4251706" y="78867"/>
                    <a:pt x="4228973" y="101600"/>
                    <a:pt x="4200906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F2037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19496" y="7790555"/>
            <a:ext cx="448713" cy="448713"/>
            <a:chOff x="0" y="0"/>
            <a:chExt cx="598284" cy="5982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F2037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054036" y="7912303"/>
            <a:ext cx="179489" cy="21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18079" y="8398373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Shirt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18079" y="8653615"/>
            <a:ext cx="2851547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3.98★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12961" y="8014840"/>
            <a:ext cx="3188789" cy="986876"/>
            <a:chOff x="0" y="0"/>
            <a:chExt cx="4251719" cy="13158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51706" cy="1315847"/>
            </a:xfrm>
            <a:custGeom>
              <a:avLst/>
              <a:gdLst/>
              <a:ahLst/>
              <a:cxnLst/>
              <a:rect r="r" b="b" t="t" l="l"/>
              <a:pathLst>
                <a:path h="1315847" w="4251706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4129786" y="0"/>
                  </a:lnTo>
                  <a:cubicBezTo>
                    <a:pt x="4197096" y="0"/>
                    <a:pt x="4251706" y="54610"/>
                    <a:pt x="4251706" y="121920"/>
                  </a:cubicBezTo>
                  <a:lnTo>
                    <a:pt x="4251706" y="1193927"/>
                  </a:lnTo>
                  <a:cubicBezTo>
                    <a:pt x="4251706" y="1261237"/>
                    <a:pt x="4197096" y="1315847"/>
                    <a:pt x="4129786" y="1315847"/>
                  </a:cubicBezTo>
                  <a:lnTo>
                    <a:pt x="121920" y="1315847"/>
                  </a:lnTo>
                  <a:cubicBezTo>
                    <a:pt x="54610" y="1315847"/>
                    <a:pt x="0" y="1261237"/>
                    <a:pt x="0" y="1193927"/>
                  </a:cubicBez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812961" y="7995790"/>
            <a:ext cx="3188789" cy="76200"/>
            <a:chOff x="0" y="0"/>
            <a:chExt cx="4251719" cy="10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51706" cy="101600"/>
            </a:xfrm>
            <a:custGeom>
              <a:avLst/>
              <a:gdLst/>
              <a:ahLst/>
              <a:cxnLst/>
              <a:rect r="r" b="b" t="t" l="l"/>
              <a:pathLst>
                <a:path h="101600" w="4251706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4200906" y="0"/>
                  </a:lnTo>
                  <a:cubicBezTo>
                    <a:pt x="4228973" y="0"/>
                    <a:pt x="4251706" y="22733"/>
                    <a:pt x="4251706" y="50800"/>
                  </a:cubicBezTo>
                  <a:cubicBezTo>
                    <a:pt x="4251706" y="78867"/>
                    <a:pt x="4228973" y="101600"/>
                    <a:pt x="4200906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F2037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182999" y="7790555"/>
            <a:ext cx="448713" cy="448713"/>
            <a:chOff x="0" y="0"/>
            <a:chExt cx="598284" cy="5982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F20374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317540" y="7912303"/>
            <a:ext cx="179489" cy="21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81582" y="8398373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Dress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81582" y="8653615"/>
            <a:ext cx="2851547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3.96★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285955" y="9300715"/>
            <a:ext cx="4820545" cy="986876"/>
            <a:chOff x="0" y="0"/>
            <a:chExt cx="6427394" cy="13158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27343" cy="1315847"/>
            </a:xfrm>
            <a:custGeom>
              <a:avLst/>
              <a:gdLst/>
              <a:ahLst/>
              <a:cxnLst/>
              <a:rect r="r" b="b" t="t" l="l"/>
              <a:pathLst>
                <a:path h="1315847" w="642734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305423" y="0"/>
                  </a:lnTo>
                  <a:cubicBezTo>
                    <a:pt x="6372733" y="0"/>
                    <a:pt x="6427343" y="54610"/>
                    <a:pt x="6427343" y="121920"/>
                  </a:cubicBezTo>
                  <a:lnTo>
                    <a:pt x="6427343" y="1193927"/>
                  </a:lnTo>
                  <a:cubicBezTo>
                    <a:pt x="6427343" y="1261237"/>
                    <a:pt x="6372733" y="1315847"/>
                    <a:pt x="6305423" y="1315847"/>
                  </a:cubicBezTo>
                  <a:lnTo>
                    <a:pt x="121920" y="1315847"/>
                  </a:lnTo>
                  <a:cubicBezTo>
                    <a:pt x="54610" y="1315847"/>
                    <a:pt x="0" y="1261237"/>
                    <a:pt x="0" y="1193927"/>
                  </a:cubicBez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285955" y="9281665"/>
            <a:ext cx="4820545" cy="76200"/>
            <a:chOff x="0" y="0"/>
            <a:chExt cx="6427394" cy="10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27343" cy="101600"/>
            </a:xfrm>
            <a:custGeom>
              <a:avLst/>
              <a:gdLst/>
              <a:ahLst/>
              <a:cxnLst/>
              <a:rect r="r" b="b" t="t" l="l"/>
              <a:pathLst>
                <a:path h="101600" w="6427343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6376543" y="0"/>
                  </a:lnTo>
                  <a:cubicBezTo>
                    <a:pt x="6404610" y="0"/>
                    <a:pt x="6427343" y="22733"/>
                    <a:pt x="6427343" y="50800"/>
                  </a:cubicBezTo>
                  <a:cubicBezTo>
                    <a:pt x="6427343" y="78867"/>
                    <a:pt x="6404610" y="101600"/>
                    <a:pt x="6376543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F2037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471866" y="9076430"/>
            <a:ext cx="448713" cy="448713"/>
            <a:chOff x="0" y="0"/>
            <a:chExt cx="598284" cy="5982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F20374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6606407" y="9198178"/>
            <a:ext cx="179489" cy="21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454576" y="9684248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Pants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454576" y="9939490"/>
            <a:ext cx="4483303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3.94★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181205" y="9300715"/>
            <a:ext cx="4820545" cy="986876"/>
            <a:chOff x="0" y="0"/>
            <a:chExt cx="6427394" cy="13158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27343" cy="1315847"/>
            </a:xfrm>
            <a:custGeom>
              <a:avLst/>
              <a:gdLst/>
              <a:ahLst/>
              <a:cxnLst/>
              <a:rect r="r" b="b" t="t" l="l"/>
              <a:pathLst>
                <a:path h="1315847" w="6427343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6305423" y="0"/>
                  </a:lnTo>
                  <a:cubicBezTo>
                    <a:pt x="6372733" y="0"/>
                    <a:pt x="6427343" y="54610"/>
                    <a:pt x="6427343" y="121920"/>
                  </a:cubicBezTo>
                  <a:lnTo>
                    <a:pt x="6427343" y="1193927"/>
                  </a:lnTo>
                  <a:cubicBezTo>
                    <a:pt x="6427343" y="1261237"/>
                    <a:pt x="6372733" y="1315847"/>
                    <a:pt x="6305423" y="1315847"/>
                  </a:cubicBezTo>
                  <a:lnTo>
                    <a:pt x="121920" y="1315847"/>
                  </a:lnTo>
                  <a:cubicBezTo>
                    <a:pt x="54610" y="1315847"/>
                    <a:pt x="0" y="1261237"/>
                    <a:pt x="0" y="1193927"/>
                  </a:cubicBez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81205" y="9281665"/>
            <a:ext cx="4820545" cy="76200"/>
            <a:chOff x="0" y="0"/>
            <a:chExt cx="6427394" cy="10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27343" cy="101600"/>
            </a:xfrm>
            <a:custGeom>
              <a:avLst/>
              <a:gdLst/>
              <a:ahLst/>
              <a:cxnLst/>
              <a:rect r="r" b="b" t="t" l="l"/>
              <a:pathLst>
                <a:path h="101600" w="6427343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6376543" y="0"/>
                  </a:lnTo>
                  <a:cubicBezTo>
                    <a:pt x="6404610" y="0"/>
                    <a:pt x="6427343" y="22733"/>
                    <a:pt x="6427343" y="50800"/>
                  </a:cubicBezTo>
                  <a:cubicBezTo>
                    <a:pt x="6427343" y="78867"/>
                    <a:pt x="6404610" y="101600"/>
                    <a:pt x="6376543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F2037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367116" y="9076430"/>
            <a:ext cx="448713" cy="448713"/>
            <a:chOff x="0" y="0"/>
            <a:chExt cx="598284" cy="5982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F20374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1501657" y="9198178"/>
            <a:ext cx="179489" cy="214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349826" y="9684248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Jewelry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349826" y="9939490"/>
            <a:ext cx="4483303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3.93★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285955" y="10371687"/>
            <a:ext cx="9715948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 b="true">
                <a:solidFill>
                  <a:srgbClr val="F20374"/>
                </a:solidFill>
                <a:latin typeface="Overpass Bold"/>
                <a:ea typeface="Overpass Bold"/>
                <a:cs typeface="Overpass Bold"/>
                <a:sym typeface="Overpass Bold"/>
              </a:rPr>
              <a:t>Insight:</a:t>
            </a: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Clothing items dominate top ratings. Invest in quality for these categories and use them in marketing to build brand trust.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9" y="2179434"/>
            <a:ext cx="7800975" cy="89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Shipping Type vs Spend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9" y="3816848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Standard Shipping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159" y="4470197"/>
            <a:ext cx="4302919" cy="1740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Avg: $59.70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2,010 customers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$119,997 total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89447" y="3816848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Express Shipping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89447" y="4470197"/>
            <a:ext cx="4302919" cy="1740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Avg: $60.12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890 customers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$53,507 total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159" y="6556924"/>
            <a:ext cx="9335691" cy="153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F20374"/>
                </a:solidFill>
                <a:latin typeface="Overpass Bold"/>
                <a:ea typeface="Overpass Bold"/>
                <a:cs typeface="Overpass Bold"/>
                <a:sym typeface="Overpass Bold"/>
              </a:rPr>
              <a:t>Insight:</a:t>
            </a: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Express shipping customers spend marginally more ($0.42), suggesting speed-focused shoppers are slightly higher-value. Consider upselling express at checkout.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9" y="1029148"/>
            <a:ext cx="9335691" cy="177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Subscriber vs Non-Subscriber Performance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2397" y="3252197"/>
            <a:ext cx="4527794" cy="2203847"/>
            <a:chOff x="0" y="0"/>
            <a:chExt cx="6037059" cy="29384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6024372" cy="2925699"/>
            </a:xfrm>
            <a:custGeom>
              <a:avLst/>
              <a:gdLst/>
              <a:ahLst/>
              <a:cxnLst/>
              <a:rect r="r" b="b" t="t" l="l"/>
              <a:pathLst>
                <a:path h="2925699" w="6024372">
                  <a:moveTo>
                    <a:pt x="0" y="167513"/>
                  </a:moveTo>
                  <a:cubicBezTo>
                    <a:pt x="0" y="75057"/>
                    <a:pt x="75184" y="0"/>
                    <a:pt x="167894" y="0"/>
                  </a:cubicBezTo>
                  <a:lnTo>
                    <a:pt x="5856478" y="0"/>
                  </a:lnTo>
                  <a:cubicBezTo>
                    <a:pt x="5949188" y="0"/>
                    <a:pt x="6024372" y="75057"/>
                    <a:pt x="6024372" y="167513"/>
                  </a:cubicBezTo>
                  <a:lnTo>
                    <a:pt x="6024372" y="2758186"/>
                  </a:lnTo>
                  <a:cubicBezTo>
                    <a:pt x="6024372" y="2850769"/>
                    <a:pt x="5949188" y="2925699"/>
                    <a:pt x="5856478" y="2925699"/>
                  </a:cubicBezTo>
                  <a:lnTo>
                    <a:pt x="167894" y="2925699"/>
                  </a:lnTo>
                  <a:cubicBezTo>
                    <a:pt x="75184" y="2925826"/>
                    <a:pt x="0" y="2850769"/>
                    <a:pt x="0" y="2758186"/>
                  </a:cubicBezTo>
                  <a:close/>
                </a:path>
              </a:pathLst>
            </a:custGeom>
            <a:solidFill>
              <a:srgbClr val="7E023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37072" cy="2938399"/>
            </a:xfrm>
            <a:custGeom>
              <a:avLst/>
              <a:gdLst/>
              <a:ahLst/>
              <a:cxnLst/>
              <a:rect r="r" b="b" t="t" l="l"/>
              <a:pathLst>
                <a:path h="2938399" w="6037072">
                  <a:moveTo>
                    <a:pt x="0" y="173863"/>
                  </a:moveTo>
                  <a:cubicBezTo>
                    <a:pt x="0" y="77851"/>
                    <a:pt x="78105" y="0"/>
                    <a:pt x="174244" y="0"/>
                  </a:cubicBezTo>
                  <a:lnTo>
                    <a:pt x="5862828" y="0"/>
                  </a:lnTo>
                  <a:lnTo>
                    <a:pt x="5862828" y="6350"/>
                  </a:lnTo>
                  <a:lnTo>
                    <a:pt x="5862828" y="0"/>
                  </a:lnTo>
                  <a:cubicBezTo>
                    <a:pt x="5959094" y="0"/>
                    <a:pt x="6037072" y="77851"/>
                    <a:pt x="6037072" y="173863"/>
                  </a:cubicBezTo>
                  <a:lnTo>
                    <a:pt x="6030722" y="173863"/>
                  </a:lnTo>
                  <a:lnTo>
                    <a:pt x="6037072" y="173863"/>
                  </a:lnTo>
                  <a:lnTo>
                    <a:pt x="6037072" y="2764536"/>
                  </a:lnTo>
                  <a:lnTo>
                    <a:pt x="6030722" y="2764536"/>
                  </a:lnTo>
                  <a:lnTo>
                    <a:pt x="6037072" y="2764536"/>
                  </a:lnTo>
                  <a:cubicBezTo>
                    <a:pt x="6037072" y="2860548"/>
                    <a:pt x="5958967" y="2938399"/>
                    <a:pt x="5862828" y="2938399"/>
                  </a:cubicBezTo>
                  <a:lnTo>
                    <a:pt x="5862828" y="2932049"/>
                  </a:lnTo>
                  <a:lnTo>
                    <a:pt x="5862828" y="2938399"/>
                  </a:lnTo>
                  <a:lnTo>
                    <a:pt x="174244" y="2938399"/>
                  </a:lnTo>
                  <a:lnTo>
                    <a:pt x="174244" y="2932049"/>
                  </a:lnTo>
                  <a:lnTo>
                    <a:pt x="174244" y="2938399"/>
                  </a:lnTo>
                  <a:cubicBezTo>
                    <a:pt x="78105" y="2938526"/>
                    <a:pt x="0" y="2860675"/>
                    <a:pt x="0" y="2764536"/>
                  </a:cubicBezTo>
                  <a:lnTo>
                    <a:pt x="0" y="173863"/>
                  </a:lnTo>
                  <a:lnTo>
                    <a:pt x="6350" y="173863"/>
                  </a:lnTo>
                  <a:lnTo>
                    <a:pt x="0" y="173863"/>
                  </a:lnTo>
                  <a:moveTo>
                    <a:pt x="12700" y="173863"/>
                  </a:moveTo>
                  <a:lnTo>
                    <a:pt x="12700" y="2764536"/>
                  </a:lnTo>
                  <a:lnTo>
                    <a:pt x="6350" y="2764536"/>
                  </a:lnTo>
                  <a:lnTo>
                    <a:pt x="12700" y="2764536"/>
                  </a:lnTo>
                  <a:cubicBezTo>
                    <a:pt x="12700" y="2853563"/>
                    <a:pt x="85090" y="2925699"/>
                    <a:pt x="174244" y="2925699"/>
                  </a:cubicBezTo>
                  <a:lnTo>
                    <a:pt x="5862828" y="2925699"/>
                  </a:lnTo>
                  <a:cubicBezTo>
                    <a:pt x="5952109" y="2925699"/>
                    <a:pt x="6024372" y="2853563"/>
                    <a:pt x="6024372" y="2764536"/>
                  </a:cubicBezTo>
                  <a:lnTo>
                    <a:pt x="6024372" y="173863"/>
                  </a:lnTo>
                  <a:cubicBezTo>
                    <a:pt x="6024372" y="84836"/>
                    <a:pt x="5951982" y="12700"/>
                    <a:pt x="5862828" y="12700"/>
                  </a:cubicBezTo>
                  <a:lnTo>
                    <a:pt x="174244" y="12700"/>
                  </a:lnTo>
                  <a:lnTo>
                    <a:pt x="174244" y="6350"/>
                  </a:lnTo>
                  <a:lnTo>
                    <a:pt x="174244" y="12700"/>
                  </a:lnTo>
                  <a:cubicBezTo>
                    <a:pt x="85090" y="12700"/>
                    <a:pt x="12700" y="84836"/>
                    <a:pt x="12700" y="173863"/>
                  </a:cubicBezTo>
                  <a:close/>
                </a:path>
              </a:pathLst>
            </a:custGeom>
            <a:solidFill>
              <a:srgbClr val="971B5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55827" y="3556102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Subscribed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5827" y="4089797"/>
            <a:ext cx="3900935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$62.45 avg spend • $83,432 total • 61.1% revenue share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59809" y="3252197"/>
            <a:ext cx="4527794" cy="2203847"/>
            <a:chOff x="0" y="0"/>
            <a:chExt cx="6037059" cy="29384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6024372" cy="2925699"/>
            </a:xfrm>
            <a:custGeom>
              <a:avLst/>
              <a:gdLst/>
              <a:ahLst/>
              <a:cxnLst/>
              <a:rect r="r" b="b" t="t" l="l"/>
              <a:pathLst>
                <a:path h="2925699" w="6024372">
                  <a:moveTo>
                    <a:pt x="0" y="167513"/>
                  </a:moveTo>
                  <a:cubicBezTo>
                    <a:pt x="0" y="75057"/>
                    <a:pt x="75184" y="0"/>
                    <a:pt x="167894" y="0"/>
                  </a:cubicBezTo>
                  <a:lnTo>
                    <a:pt x="5856478" y="0"/>
                  </a:lnTo>
                  <a:cubicBezTo>
                    <a:pt x="5949188" y="0"/>
                    <a:pt x="6024372" y="75057"/>
                    <a:pt x="6024372" y="167513"/>
                  </a:cubicBezTo>
                  <a:lnTo>
                    <a:pt x="6024372" y="2758186"/>
                  </a:lnTo>
                  <a:cubicBezTo>
                    <a:pt x="6024372" y="2850769"/>
                    <a:pt x="5949188" y="2925699"/>
                    <a:pt x="5856478" y="2925699"/>
                  </a:cubicBezTo>
                  <a:lnTo>
                    <a:pt x="167894" y="2925699"/>
                  </a:lnTo>
                  <a:cubicBezTo>
                    <a:pt x="75184" y="2925826"/>
                    <a:pt x="0" y="2850769"/>
                    <a:pt x="0" y="2758186"/>
                  </a:cubicBezTo>
                  <a:close/>
                </a:path>
              </a:pathLst>
            </a:custGeom>
            <a:solidFill>
              <a:srgbClr val="7E023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37072" cy="2938399"/>
            </a:xfrm>
            <a:custGeom>
              <a:avLst/>
              <a:gdLst/>
              <a:ahLst/>
              <a:cxnLst/>
              <a:rect r="r" b="b" t="t" l="l"/>
              <a:pathLst>
                <a:path h="2938399" w="6037072">
                  <a:moveTo>
                    <a:pt x="0" y="173863"/>
                  </a:moveTo>
                  <a:cubicBezTo>
                    <a:pt x="0" y="77851"/>
                    <a:pt x="78105" y="0"/>
                    <a:pt x="174244" y="0"/>
                  </a:cubicBezTo>
                  <a:lnTo>
                    <a:pt x="5862828" y="0"/>
                  </a:lnTo>
                  <a:lnTo>
                    <a:pt x="5862828" y="6350"/>
                  </a:lnTo>
                  <a:lnTo>
                    <a:pt x="5862828" y="0"/>
                  </a:lnTo>
                  <a:cubicBezTo>
                    <a:pt x="5959094" y="0"/>
                    <a:pt x="6037072" y="77851"/>
                    <a:pt x="6037072" y="173863"/>
                  </a:cubicBezTo>
                  <a:lnTo>
                    <a:pt x="6030722" y="173863"/>
                  </a:lnTo>
                  <a:lnTo>
                    <a:pt x="6037072" y="173863"/>
                  </a:lnTo>
                  <a:lnTo>
                    <a:pt x="6037072" y="2764536"/>
                  </a:lnTo>
                  <a:lnTo>
                    <a:pt x="6030722" y="2764536"/>
                  </a:lnTo>
                  <a:lnTo>
                    <a:pt x="6037072" y="2764536"/>
                  </a:lnTo>
                  <a:cubicBezTo>
                    <a:pt x="6037072" y="2860548"/>
                    <a:pt x="5958967" y="2938399"/>
                    <a:pt x="5862828" y="2938399"/>
                  </a:cubicBezTo>
                  <a:lnTo>
                    <a:pt x="5862828" y="2932049"/>
                  </a:lnTo>
                  <a:lnTo>
                    <a:pt x="5862828" y="2938399"/>
                  </a:lnTo>
                  <a:lnTo>
                    <a:pt x="174244" y="2938399"/>
                  </a:lnTo>
                  <a:lnTo>
                    <a:pt x="174244" y="2932049"/>
                  </a:lnTo>
                  <a:lnTo>
                    <a:pt x="174244" y="2938399"/>
                  </a:lnTo>
                  <a:cubicBezTo>
                    <a:pt x="78105" y="2938526"/>
                    <a:pt x="0" y="2860675"/>
                    <a:pt x="0" y="2764536"/>
                  </a:cubicBezTo>
                  <a:lnTo>
                    <a:pt x="0" y="173863"/>
                  </a:lnTo>
                  <a:lnTo>
                    <a:pt x="6350" y="173863"/>
                  </a:lnTo>
                  <a:lnTo>
                    <a:pt x="0" y="173863"/>
                  </a:lnTo>
                  <a:moveTo>
                    <a:pt x="12700" y="173863"/>
                  </a:moveTo>
                  <a:lnTo>
                    <a:pt x="12700" y="2764536"/>
                  </a:lnTo>
                  <a:lnTo>
                    <a:pt x="6350" y="2764536"/>
                  </a:lnTo>
                  <a:lnTo>
                    <a:pt x="12700" y="2764536"/>
                  </a:lnTo>
                  <a:cubicBezTo>
                    <a:pt x="12700" y="2853563"/>
                    <a:pt x="85090" y="2925699"/>
                    <a:pt x="174244" y="2925699"/>
                  </a:cubicBezTo>
                  <a:lnTo>
                    <a:pt x="5862828" y="2925699"/>
                  </a:lnTo>
                  <a:cubicBezTo>
                    <a:pt x="5952109" y="2925699"/>
                    <a:pt x="6024372" y="2853563"/>
                    <a:pt x="6024372" y="2764536"/>
                  </a:cubicBezTo>
                  <a:lnTo>
                    <a:pt x="6024372" y="173863"/>
                  </a:lnTo>
                  <a:cubicBezTo>
                    <a:pt x="6024372" y="84836"/>
                    <a:pt x="5951982" y="12700"/>
                    <a:pt x="5862828" y="12700"/>
                  </a:cubicBezTo>
                  <a:lnTo>
                    <a:pt x="174244" y="12700"/>
                  </a:lnTo>
                  <a:lnTo>
                    <a:pt x="174244" y="6350"/>
                  </a:lnTo>
                  <a:lnTo>
                    <a:pt x="174244" y="12700"/>
                  </a:lnTo>
                  <a:cubicBezTo>
                    <a:pt x="85090" y="12700"/>
                    <a:pt x="12700" y="84836"/>
                    <a:pt x="12700" y="173863"/>
                  </a:cubicBezTo>
                  <a:close/>
                </a:path>
              </a:pathLst>
            </a:custGeom>
            <a:solidFill>
              <a:srgbClr val="971B5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173238" y="3556102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Not Subscribed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73238" y="4089797"/>
            <a:ext cx="3900935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$57.30 avg spend • $48,934 total • 35.8% revenue share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2397" y="5745661"/>
            <a:ext cx="9345216" cy="1725063"/>
            <a:chOff x="0" y="0"/>
            <a:chExt cx="12460288" cy="23000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12447524" cy="2287270"/>
            </a:xfrm>
            <a:custGeom>
              <a:avLst/>
              <a:gdLst/>
              <a:ahLst/>
              <a:cxnLst/>
              <a:rect r="r" b="b" t="t" l="l"/>
              <a:pathLst>
                <a:path h="2287270" w="12447524">
                  <a:moveTo>
                    <a:pt x="0" y="167513"/>
                  </a:moveTo>
                  <a:cubicBezTo>
                    <a:pt x="0" y="75057"/>
                    <a:pt x="75311" y="0"/>
                    <a:pt x="168275" y="0"/>
                  </a:cubicBezTo>
                  <a:lnTo>
                    <a:pt x="12279249" y="0"/>
                  </a:lnTo>
                  <a:cubicBezTo>
                    <a:pt x="12372213" y="0"/>
                    <a:pt x="12447524" y="75057"/>
                    <a:pt x="12447524" y="167513"/>
                  </a:cubicBezTo>
                  <a:lnTo>
                    <a:pt x="12447524" y="2119757"/>
                  </a:lnTo>
                  <a:cubicBezTo>
                    <a:pt x="12447524" y="2212340"/>
                    <a:pt x="12372213" y="2287270"/>
                    <a:pt x="12279249" y="2287270"/>
                  </a:cubicBezTo>
                  <a:lnTo>
                    <a:pt x="168275" y="2287270"/>
                  </a:lnTo>
                  <a:cubicBezTo>
                    <a:pt x="75311" y="2287397"/>
                    <a:pt x="0" y="2212340"/>
                    <a:pt x="0" y="2119757"/>
                  </a:cubicBezTo>
                  <a:close/>
                </a:path>
              </a:pathLst>
            </a:custGeom>
            <a:solidFill>
              <a:srgbClr val="7E023C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460224" cy="2299970"/>
            </a:xfrm>
            <a:custGeom>
              <a:avLst/>
              <a:gdLst/>
              <a:ahLst/>
              <a:cxnLst/>
              <a:rect r="r" b="b" t="t" l="l"/>
              <a:pathLst>
                <a:path h="2299970" w="12460224">
                  <a:moveTo>
                    <a:pt x="0" y="173863"/>
                  </a:moveTo>
                  <a:cubicBezTo>
                    <a:pt x="0" y="77851"/>
                    <a:pt x="78232" y="0"/>
                    <a:pt x="174625" y="0"/>
                  </a:cubicBezTo>
                  <a:lnTo>
                    <a:pt x="12285599" y="0"/>
                  </a:lnTo>
                  <a:lnTo>
                    <a:pt x="12285599" y="6350"/>
                  </a:lnTo>
                  <a:lnTo>
                    <a:pt x="12285599" y="0"/>
                  </a:lnTo>
                  <a:cubicBezTo>
                    <a:pt x="12381992" y="0"/>
                    <a:pt x="12460224" y="77851"/>
                    <a:pt x="12460224" y="173863"/>
                  </a:cubicBezTo>
                  <a:lnTo>
                    <a:pt x="12453874" y="173863"/>
                  </a:lnTo>
                  <a:lnTo>
                    <a:pt x="12460224" y="173863"/>
                  </a:lnTo>
                  <a:lnTo>
                    <a:pt x="12460224" y="2126107"/>
                  </a:lnTo>
                  <a:lnTo>
                    <a:pt x="12453874" y="2126107"/>
                  </a:lnTo>
                  <a:lnTo>
                    <a:pt x="12460224" y="2126107"/>
                  </a:lnTo>
                  <a:cubicBezTo>
                    <a:pt x="12460224" y="2222246"/>
                    <a:pt x="12381992" y="2299970"/>
                    <a:pt x="12285599" y="2299970"/>
                  </a:cubicBezTo>
                  <a:lnTo>
                    <a:pt x="12285599" y="2293620"/>
                  </a:lnTo>
                  <a:lnTo>
                    <a:pt x="12285599" y="2299970"/>
                  </a:lnTo>
                  <a:lnTo>
                    <a:pt x="174625" y="2299970"/>
                  </a:lnTo>
                  <a:lnTo>
                    <a:pt x="174625" y="2293620"/>
                  </a:lnTo>
                  <a:lnTo>
                    <a:pt x="174625" y="2299970"/>
                  </a:lnTo>
                  <a:cubicBezTo>
                    <a:pt x="78232" y="2300097"/>
                    <a:pt x="0" y="2222246"/>
                    <a:pt x="0" y="2126107"/>
                  </a:cubicBezTo>
                  <a:lnTo>
                    <a:pt x="0" y="173863"/>
                  </a:lnTo>
                  <a:lnTo>
                    <a:pt x="6350" y="173863"/>
                  </a:lnTo>
                  <a:lnTo>
                    <a:pt x="0" y="173863"/>
                  </a:lnTo>
                  <a:moveTo>
                    <a:pt x="12700" y="173863"/>
                  </a:moveTo>
                  <a:lnTo>
                    <a:pt x="12700" y="2126107"/>
                  </a:lnTo>
                  <a:lnTo>
                    <a:pt x="6350" y="2126107"/>
                  </a:lnTo>
                  <a:lnTo>
                    <a:pt x="12700" y="2126107"/>
                  </a:lnTo>
                  <a:cubicBezTo>
                    <a:pt x="12700" y="2215134"/>
                    <a:pt x="85217" y="2287270"/>
                    <a:pt x="174625" y="2287270"/>
                  </a:cubicBezTo>
                  <a:lnTo>
                    <a:pt x="12285599" y="2287270"/>
                  </a:lnTo>
                  <a:cubicBezTo>
                    <a:pt x="12375134" y="2287270"/>
                    <a:pt x="12447524" y="2215007"/>
                    <a:pt x="12447524" y="2126107"/>
                  </a:cubicBezTo>
                  <a:lnTo>
                    <a:pt x="12447524" y="173863"/>
                  </a:lnTo>
                  <a:cubicBezTo>
                    <a:pt x="12447651" y="84963"/>
                    <a:pt x="12375134" y="12700"/>
                    <a:pt x="12285599" y="12700"/>
                  </a:cubicBezTo>
                  <a:lnTo>
                    <a:pt x="174625" y="12700"/>
                  </a:lnTo>
                  <a:lnTo>
                    <a:pt x="174625" y="6350"/>
                  </a:lnTo>
                  <a:lnTo>
                    <a:pt x="174625" y="12700"/>
                  </a:lnTo>
                  <a:cubicBezTo>
                    <a:pt x="85217" y="12700"/>
                    <a:pt x="12700" y="84963"/>
                    <a:pt x="12700" y="173863"/>
                  </a:cubicBezTo>
                  <a:close/>
                </a:path>
              </a:pathLst>
            </a:custGeom>
            <a:solidFill>
              <a:srgbClr val="971B5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55827" y="6049566"/>
            <a:ext cx="3520230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Unknown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5827" y="6583261"/>
            <a:ext cx="8718347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$49.80 avg spend • $4,254 total • 3.1% revenue share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7159" y="7707211"/>
            <a:ext cx="9335691" cy="153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F20374"/>
                </a:solidFill>
                <a:latin typeface="Overpass Bold"/>
                <a:ea typeface="Overpass Bold"/>
                <a:cs typeface="Overpass Bold"/>
                <a:sym typeface="Overpass Bold"/>
              </a:rPr>
              <a:t>Insight:</a:t>
            </a:r>
            <a:r>
              <a:rPr lang="en-US" sz="231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Subscribers spend 9% more on average and generate 61% of total revenue. A focused subscriber-growth campaign could significantly lift overall revenue.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85955" y="401841"/>
            <a:ext cx="5317036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Top 5 Products by Discount Rate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85955" y="1000868"/>
            <a:ext cx="7105650" cy="6696075"/>
            <a:chOff x="0" y="0"/>
            <a:chExt cx="9474200" cy="89281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474200" cy="8928100"/>
            </a:xfrm>
            <a:custGeom>
              <a:avLst/>
              <a:gdLst/>
              <a:ahLst/>
              <a:cxnLst/>
              <a:rect r="r" b="b" t="t" l="l"/>
              <a:pathLst>
                <a:path h="8928100" w="9474200">
                  <a:moveTo>
                    <a:pt x="0" y="0"/>
                  </a:moveTo>
                  <a:lnTo>
                    <a:pt x="9474200" y="0"/>
                  </a:lnTo>
                  <a:lnTo>
                    <a:pt x="9474200" y="8928100"/>
                  </a:lnTo>
                  <a:lnTo>
                    <a:pt x="0" y="892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285955" y="7781030"/>
            <a:ext cx="149571" cy="18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285955" y="8016183"/>
            <a:ext cx="3188789" cy="19050"/>
            <a:chOff x="0" y="0"/>
            <a:chExt cx="4251719" cy="2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51706" cy="25400"/>
            </a:xfrm>
            <a:custGeom>
              <a:avLst/>
              <a:gdLst/>
              <a:ahLst/>
              <a:cxnLst/>
              <a:rect r="r" b="b" t="t" l="l"/>
              <a:pathLst>
                <a:path h="25400" w="4251706">
                  <a:moveTo>
                    <a:pt x="0" y="0"/>
                  </a:moveTo>
                  <a:lnTo>
                    <a:pt x="4251706" y="0"/>
                  </a:lnTo>
                  <a:lnTo>
                    <a:pt x="42517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2037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285955" y="8138522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Coat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85955" y="8393754"/>
            <a:ext cx="3188789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48.2% discount rate (229 of 475 orders)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9458" y="7781030"/>
            <a:ext cx="149571" cy="18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458" y="8016183"/>
            <a:ext cx="3188789" cy="19050"/>
            <a:chOff x="0" y="0"/>
            <a:chExt cx="4251719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51706" cy="25400"/>
            </a:xfrm>
            <a:custGeom>
              <a:avLst/>
              <a:gdLst/>
              <a:ahLst/>
              <a:cxnLst/>
              <a:rect r="r" b="b" t="t" l="l"/>
              <a:pathLst>
                <a:path h="25400" w="4251706">
                  <a:moveTo>
                    <a:pt x="0" y="0"/>
                  </a:moveTo>
                  <a:lnTo>
                    <a:pt x="4251706" y="0"/>
                  </a:lnTo>
                  <a:lnTo>
                    <a:pt x="42517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2037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549458" y="8138522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Boots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49458" y="8393754"/>
            <a:ext cx="3188789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46.5% discount rate (209 of 450 orders)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12961" y="7781030"/>
            <a:ext cx="149571" cy="18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03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812961" y="8016183"/>
            <a:ext cx="3188789" cy="19050"/>
            <a:chOff x="0" y="0"/>
            <a:chExt cx="4251719" cy="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51706" cy="25400"/>
            </a:xfrm>
            <a:custGeom>
              <a:avLst/>
              <a:gdLst/>
              <a:ahLst/>
              <a:cxnLst/>
              <a:rect r="r" b="b" t="t" l="l"/>
              <a:pathLst>
                <a:path h="25400" w="4251706">
                  <a:moveTo>
                    <a:pt x="0" y="0"/>
                  </a:moveTo>
                  <a:lnTo>
                    <a:pt x="4251706" y="0"/>
                  </a:lnTo>
                  <a:lnTo>
                    <a:pt x="425170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20374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812961" y="8138522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Handbag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12961" y="8393754"/>
            <a:ext cx="3188789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45.8% discount rate (201 of 439 orders)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85955" y="8760028"/>
            <a:ext cx="149571" cy="18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04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285955" y="8995172"/>
            <a:ext cx="4820545" cy="19050"/>
            <a:chOff x="0" y="0"/>
            <a:chExt cx="6427394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27343" cy="25400"/>
            </a:xfrm>
            <a:custGeom>
              <a:avLst/>
              <a:gdLst/>
              <a:ahLst/>
              <a:cxnLst/>
              <a:rect r="r" b="b" t="t" l="l"/>
              <a:pathLst>
                <a:path h="25400" w="6427343">
                  <a:moveTo>
                    <a:pt x="0" y="0"/>
                  </a:moveTo>
                  <a:lnTo>
                    <a:pt x="6427343" y="0"/>
                  </a:lnTo>
                  <a:lnTo>
                    <a:pt x="642734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2037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4285955" y="9117511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Sweater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85955" y="9372752"/>
            <a:ext cx="4820545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44.1% discount rate (190 of 430 orders)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81205" y="8760028"/>
            <a:ext cx="149571" cy="18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05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81205" y="8995172"/>
            <a:ext cx="4820545" cy="19050"/>
            <a:chOff x="0" y="0"/>
            <a:chExt cx="6427394" cy="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27343" cy="25400"/>
            </a:xfrm>
            <a:custGeom>
              <a:avLst/>
              <a:gdLst/>
              <a:ahLst/>
              <a:cxnLst/>
              <a:rect r="r" b="b" t="t" l="l"/>
              <a:pathLst>
                <a:path h="25400" w="6427343">
                  <a:moveTo>
                    <a:pt x="0" y="0"/>
                  </a:moveTo>
                  <a:lnTo>
                    <a:pt x="6427343" y="0"/>
                  </a:lnTo>
                  <a:lnTo>
                    <a:pt x="642734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2037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181205" y="9117511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Hat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81205" y="9372752"/>
            <a:ext cx="4820545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43.7% discount rate (185 of 423 orders)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285955" y="9748390"/>
            <a:ext cx="9715948" cy="35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 b="true">
                <a:solidFill>
                  <a:srgbClr val="F20374"/>
                </a:solidFill>
                <a:latin typeface="Overpass Bold"/>
                <a:ea typeface="Overpass Bold"/>
                <a:cs typeface="Overpass Bold"/>
                <a:sym typeface="Overpass Bold"/>
              </a:rPr>
              <a:t>Insight:</a:t>
            </a: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Winter/seasonal items show highest discount rates, indicating price sensitivity. Consider loyalty-based discounts instead of blanket promotions.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3898" y="867070"/>
            <a:ext cx="7069779" cy="81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937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Customer Segmentation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360964" y="2304898"/>
            <a:ext cx="3590925" cy="5743575"/>
            <a:chOff x="0" y="0"/>
            <a:chExt cx="4787900" cy="76581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4787900" cy="7658100"/>
            </a:xfrm>
            <a:custGeom>
              <a:avLst/>
              <a:gdLst/>
              <a:ahLst/>
              <a:cxnLst/>
              <a:rect r="r" b="b" t="t" l="l"/>
              <a:pathLst>
                <a:path h="7658100" w="4787900">
                  <a:moveTo>
                    <a:pt x="0" y="0"/>
                  </a:moveTo>
                  <a:lnTo>
                    <a:pt x="4787900" y="0"/>
                  </a:lnTo>
                  <a:lnTo>
                    <a:pt x="4787900" y="7658100"/>
                  </a:lnTo>
                  <a:lnTo>
                    <a:pt x="0" y="765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34838" y="2401643"/>
            <a:ext cx="609895" cy="609895"/>
            <a:chOff x="0" y="0"/>
            <a:chExt cx="813194" cy="8131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800608" cy="800608"/>
            </a:xfrm>
            <a:custGeom>
              <a:avLst/>
              <a:gdLst/>
              <a:ahLst/>
              <a:cxnLst/>
              <a:rect r="r" b="b" t="t" l="l"/>
              <a:pathLst>
                <a:path h="800608" w="800608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651129" y="0"/>
                  </a:lnTo>
                  <a:cubicBezTo>
                    <a:pt x="733679" y="0"/>
                    <a:pt x="800608" y="66929"/>
                    <a:pt x="800608" y="149479"/>
                  </a:cubicBezTo>
                  <a:lnTo>
                    <a:pt x="800608" y="651129"/>
                  </a:lnTo>
                  <a:cubicBezTo>
                    <a:pt x="800608" y="733679"/>
                    <a:pt x="733679" y="800608"/>
                    <a:pt x="651129" y="800608"/>
                  </a:cubicBezTo>
                  <a:lnTo>
                    <a:pt x="149479" y="800608"/>
                  </a:lnTo>
                  <a:cubicBezTo>
                    <a:pt x="66929" y="800481"/>
                    <a:pt x="0" y="733552"/>
                    <a:pt x="0" y="651002"/>
                  </a:cubicBezTo>
                  <a:close/>
                </a:path>
              </a:pathLst>
            </a:custGeom>
            <a:solidFill>
              <a:srgbClr val="7E023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3308" cy="813308"/>
            </a:xfrm>
            <a:custGeom>
              <a:avLst/>
              <a:gdLst/>
              <a:ahLst/>
              <a:cxnLst/>
              <a:rect r="r" b="b" t="t" l="l"/>
              <a:pathLst>
                <a:path h="813308" w="81330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657479" y="0"/>
                  </a:lnTo>
                  <a:lnTo>
                    <a:pt x="657479" y="6350"/>
                  </a:lnTo>
                  <a:lnTo>
                    <a:pt x="657479" y="0"/>
                  </a:lnTo>
                  <a:cubicBezTo>
                    <a:pt x="743458" y="0"/>
                    <a:pt x="813308" y="69723"/>
                    <a:pt x="813308" y="155829"/>
                  </a:cubicBezTo>
                  <a:lnTo>
                    <a:pt x="806958" y="155829"/>
                  </a:lnTo>
                  <a:lnTo>
                    <a:pt x="813308" y="155829"/>
                  </a:lnTo>
                  <a:lnTo>
                    <a:pt x="813308" y="657479"/>
                  </a:lnTo>
                  <a:lnTo>
                    <a:pt x="806958" y="657479"/>
                  </a:lnTo>
                  <a:lnTo>
                    <a:pt x="813308" y="657479"/>
                  </a:lnTo>
                  <a:cubicBezTo>
                    <a:pt x="813308" y="743458"/>
                    <a:pt x="743585" y="813308"/>
                    <a:pt x="657479" y="813308"/>
                  </a:cubicBezTo>
                  <a:lnTo>
                    <a:pt x="657479" y="806958"/>
                  </a:lnTo>
                  <a:lnTo>
                    <a:pt x="657479" y="813308"/>
                  </a:lnTo>
                  <a:lnTo>
                    <a:pt x="155829" y="813308"/>
                  </a:lnTo>
                  <a:lnTo>
                    <a:pt x="155829" y="806958"/>
                  </a:lnTo>
                  <a:lnTo>
                    <a:pt x="155829" y="813308"/>
                  </a:lnTo>
                  <a:cubicBezTo>
                    <a:pt x="69723" y="813181"/>
                    <a:pt x="0" y="743458"/>
                    <a:pt x="0" y="657352"/>
                  </a:cubicBezTo>
                  <a:lnTo>
                    <a:pt x="0" y="155829"/>
                  </a:lnTo>
                  <a:lnTo>
                    <a:pt x="6350" y="155829"/>
                  </a:lnTo>
                  <a:lnTo>
                    <a:pt x="0" y="155829"/>
                  </a:lnTo>
                  <a:moveTo>
                    <a:pt x="12700" y="155829"/>
                  </a:moveTo>
                  <a:lnTo>
                    <a:pt x="12700" y="657479"/>
                  </a:lnTo>
                  <a:lnTo>
                    <a:pt x="6350" y="657479"/>
                  </a:lnTo>
                  <a:lnTo>
                    <a:pt x="12700" y="657479"/>
                  </a:lnTo>
                  <a:cubicBezTo>
                    <a:pt x="12700" y="736473"/>
                    <a:pt x="76708" y="800608"/>
                    <a:pt x="155829" y="800608"/>
                  </a:cubicBezTo>
                  <a:lnTo>
                    <a:pt x="657479" y="800608"/>
                  </a:lnTo>
                  <a:cubicBezTo>
                    <a:pt x="736473" y="800608"/>
                    <a:pt x="800608" y="736600"/>
                    <a:pt x="800608" y="657479"/>
                  </a:cubicBezTo>
                  <a:lnTo>
                    <a:pt x="800608" y="155829"/>
                  </a:lnTo>
                  <a:cubicBezTo>
                    <a:pt x="800481" y="76708"/>
                    <a:pt x="736473" y="12700"/>
                    <a:pt x="657352" y="12700"/>
                  </a:cubicBezTo>
                  <a:lnTo>
                    <a:pt x="155829" y="12700"/>
                  </a:lnTo>
                  <a:lnTo>
                    <a:pt x="155829" y="6350"/>
                  </a:lnTo>
                  <a:lnTo>
                    <a:pt x="155829" y="12700"/>
                  </a:lnTo>
                  <a:cubicBezTo>
                    <a:pt x="76708" y="12700"/>
                    <a:pt x="12700" y="76708"/>
                    <a:pt x="12700" y="155829"/>
                  </a:cubicBezTo>
                  <a:close/>
                </a:path>
              </a:pathLst>
            </a:custGeom>
            <a:solidFill>
              <a:srgbClr val="971B5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77952" y="2488559"/>
            <a:ext cx="3139383" cy="40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Loyal (42%)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77952" y="3061697"/>
            <a:ext cx="4485532" cy="87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06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1,638 customers • 18.4 avg purchases • $65.80 avg spend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34838" y="4407103"/>
            <a:ext cx="609895" cy="609895"/>
            <a:chOff x="0" y="0"/>
            <a:chExt cx="813194" cy="8131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800608" cy="800608"/>
            </a:xfrm>
            <a:custGeom>
              <a:avLst/>
              <a:gdLst/>
              <a:ahLst/>
              <a:cxnLst/>
              <a:rect r="r" b="b" t="t" l="l"/>
              <a:pathLst>
                <a:path h="800608" w="800608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651129" y="0"/>
                  </a:lnTo>
                  <a:cubicBezTo>
                    <a:pt x="733679" y="0"/>
                    <a:pt x="800608" y="66929"/>
                    <a:pt x="800608" y="149479"/>
                  </a:cubicBezTo>
                  <a:lnTo>
                    <a:pt x="800608" y="651129"/>
                  </a:lnTo>
                  <a:cubicBezTo>
                    <a:pt x="800608" y="733679"/>
                    <a:pt x="733679" y="800608"/>
                    <a:pt x="651129" y="800608"/>
                  </a:cubicBezTo>
                  <a:lnTo>
                    <a:pt x="149479" y="800608"/>
                  </a:lnTo>
                  <a:cubicBezTo>
                    <a:pt x="66929" y="800481"/>
                    <a:pt x="0" y="733552"/>
                    <a:pt x="0" y="651002"/>
                  </a:cubicBezTo>
                  <a:close/>
                </a:path>
              </a:pathLst>
            </a:custGeom>
            <a:solidFill>
              <a:srgbClr val="7E023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3308" cy="813308"/>
            </a:xfrm>
            <a:custGeom>
              <a:avLst/>
              <a:gdLst/>
              <a:ahLst/>
              <a:cxnLst/>
              <a:rect r="r" b="b" t="t" l="l"/>
              <a:pathLst>
                <a:path h="813308" w="81330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657479" y="0"/>
                  </a:lnTo>
                  <a:lnTo>
                    <a:pt x="657479" y="6350"/>
                  </a:lnTo>
                  <a:lnTo>
                    <a:pt x="657479" y="0"/>
                  </a:lnTo>
                  <a:cubicBezTo>
                    <a:pt x="743458" y="0"/>
                    <a:pt x="813308" y="69723"/>
                    <a:pt x="813308" y="155829"/>
                  </a:cubicBezTo>
                  <a:lnTo>
                    <a:pt x="806958" y="155829"/>
                  </a:lnTo>
                  <a:lnTo>
                    <a:pt x="813308" y="155829"/>
                  </a:lnTo>
                  <a:lnTo>
                    <a:pt x="813308" y="657479"/>
                  </a:lnTo>
                  <a:lnTo>
                    <a:pt x="806958" y="657479"/>
                  </a:lnTo>
                  <a:lnTo>
                    <a:pt x="813308" y="657479"/>
                  </a:lnTo>
                  <a:cubicBezTo>
                    <a:pt x="813308" y="743458"/>
                    <a:pt x="743585" y="813308"/>
                    <a:pt x="657479" y="813308"/>
                  </a:cubicBezTo>
                  <a:lnTo>
                    <a:pt x="657479" y="806958"/>
                  </a:lnTo>
                  <a:lnTo>
                    <a:pt x="657479" y="813308"/>
                  </a:lnTo>
                  <a:lnTo>
                    <a:pt x="155829" y="813308"/>
                  </a:lnTo>
                  <a:lnTo>
                    <a:pt x="155829" y="806958"/>
                  </a:lnTo>
                  <a:lnTo>
                    <a:pt x="155829" y="813308"/>
                  </a:lnTo>
                  <a:cubicBezTo>
                    <a:pt x="69723" y="813181"/>
                    <a:pt x="0" y="743458"/>
                    <a:pt x="0" y="657352"/>
                  </a:cubicBezTo>
                  <a:lnTo>
                    <a:pt x="0" y="155829"/>
                  </a:lnTo>
                  <a:lnTo>
                    <a:pt x="6350" y="155829"/>
                  </a:lnTo>
                  <a:lnTo>
                    <a:pt x="0" y="155829"/>
                  </a:lnTo>
                  <a:moveTo>
                    <a:pt x="12700" y="155829"/>
                  </a:moveTo>
                  <a:lnTo>
                    <a:pt x="12700" y="657479"/>
                  </a:lnTo>
                  <a:lnTo>
                    <a:pt x="6350" y="657479"/>
                  </a:lnTo>
                  <a:lnTo>
                    <a:pt x="12700" y="657479"/>
                  </a:lnTo>
                  <a:cubicBezTo>
                    <a:pt x="12700" y="736473"/>
                    <a:pt x="76708" y="800608"/>
                    <a:pt x="155829" y="800608"/>
                  </a:cubicBezTo>
                  <a:lnTo>
                    <a:pt x="657479" y="800608"/>
                  </a:lnTo>
                  <a:cubicBezTo>
                    <a:pt x="736473" y="800608"/>
                    <a:pt x="800608" y="736600"/>
                    <a:pt x="800608" y="657479"/>
                  </a:cubicBezTo>
                  <a:lnTo>
                    <a:pt x="800608" y="155829"/>
                  </a:lnTo>
                  <a:cubicBezTo>
                    <a:pt x="800481" y="76708"/>
                    <a:pt x="736473" y="12700"/>
                    <a:pt x="657352" y="12700"/>
                  </a:cubicBezTo>
                  <a:lnTo>
                    <a:pt x="155829" y="12700"/>
                  </a:lnTo>
                  <a:lnTo>
                    <a:pt x="155829" y="6350"/>
                  </a:lnTo>
                  <a:lnTo>
                    <a:pt x="155829" y="12700"/>
                  </a:lnTo>
                  <a:cubicBezTo>
                    <a:pt x="76708" y="12700"/>
                    <a:pt x="12700" y="76708"/>
                    <a:pt x="12700" y="155829"/>
                  </a:cubicBezTo>
                  <a:close/>
                </a:path>
              </a:pathLst>
            </a:custGeom>
            <a:solidFill>
              <a:srgbClr val="971B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877952" y="4494009"/>
            <a:ext cx="3139383" cy="40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Returning (46%)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77952" y="5067148"/>
            <a:ext cx="4485532" cy="87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06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1,794 customers • 5.8 avg purchases • $59.20 avg spend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34838" y="6412554"/>
            <a:ext cx="609895" cy="609895"/>
            <a:chOff x="0" y="0"/>
            <a:chExt cx="813194" cy="8131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800608" cy="800608"/>
            </a:xfrm>
            <a:custGeom>
              <a:avLst/>
              <a:gdLst/>
              <a:ahLst/>
              <a:cxnLst/>
              <a:rect r="r" b="b" t="t" l="l"/>
              <a:pathLst>
                <a:path h="800608" w="800608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651129" y="0"/>
                  </a:lnTo>
                  <a:cubicBezTo>
                    <a:pt x="733679" y="0"/>
                    <a:pt x="800608" y="66929"/>
                    <a:pt x="800608" y="149479"/>
                  </a:cubicBezTo>
                  <a:lnTo>
                    <a:pt x="800608" y="651129"/>
                  </a:lnTo>
                  <a:cubicBezTo>
                    <a:pt x="800608" y="733679"/>
                    <a:pt x="733679" y="800608"/>
                    <a:pt x="651129" y="800608"/>
                  </a:cubicBezTo>
                  <a:lnTo>
                    <a:pt x="149479" y="800608"/>
                  </a:lnTo>
                  <a:cubicBezTo>
                    <a:pt x="66929" y="800481"/>
                    <a:pt x="0" y="733552"/>
                    <a:pt x="0" y="651002"/>
                  </a:cubicBezTo>
                  <a:close/>
                </a:path>
              </a:pathLst>
            </a:custGeom>
            <a:solidFill>
              <a:srgbClr val="7E023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3308" cy="813308"/>
            </a:xfrm>
            <a:custGeom>
              <a:avLst/>
              <a:gdLst/>
              <a:ahLst/>
              <a:cxnLst/>
              <a:rect r="r" b="b" t="t" l="l"/>
              <a:pathLst>
                <a:path h="813308" w="813308">
                  <a:moveTo>
                    <a:pt x="0" y="155829"/>
                  </a:moveTo>
                  <a:cubicBezTo>
                    <a:pt x="0" y="69723"/>
                    <a:pt x="69723" y="0"/>
                    <a:pt x="155829" y="0"/>
                  </a:cubicBezTo>
                  <a:lnTo>
                    <a:pt x="657479" y="0"/>
                  </a:lnTo>
                  <a:lnTo>
                    <a:pt x="657479" y="6350"/>
                  </a:lnTo>
                  <a:lnTo>
                    <a:pt x="657479" y="0"/>
                  </a:lnTo>
                  <a:cubicBezTo>
                    <a:pt x="743458" y="0"/>
                    <a:pt x="813308" y="69723"/>
                    <a:pt x="813308" y="155829"/>
                  </a:cubicBezTo>
                  <a:lnTo>
                    <a:pt x="806958" y="155829"/>
                  </a:lnTo>
                  <a:lnTo>
                    <a:pt x="813308" y="155829"/>
                  </a:lnTo>
                  <a:lnTo>
                    <a:pt x="813308" y="657479"/>
                  </a:lnTo>
                  <a:lnTo>
                    <a:pt x="806958" y="657479"/>
                  </a:lnTo>
                  <a:lnTo>
                    <a:pt x="813308" y="657479"/>
                  </a:lnTo>
                  <a:cubicBezTo>
                    <a:pt x="813308" y="743458"/>
                    <a:pt x="743585" y="813308"/>
                    <a:pt x="657479" y="813308"/>
                  </a:cubicBezTo>
                  <a:lnTo>
                    <a:pt x="657479" y="806958"/>
                  </a:lnTo>
                  <a:lnTo>
                    <a:pt x="657479" y="813308"/>
                  </a:lnTo>
                  <a:lnTo>
                    <a:pt x="155829" y="813308"/>
                  </a:lnTo>
                  <a:lnTo>
                    <a:pt x="155829" y="806958"/>
                  </a:lnTo>
                  <a:lnTo>
                    <a:pt x="155829" y="813308"/>
                  </a:lnTo>
                  <a:cubicBezTo>
                    <a:pt x="69723" y="813181"/>
                    <a:pt x="0" y="743458"/>
                    <a:pt x="0" y="657352"/>
                  </a:cubicBezTo>
                  <a:lnTo>
                    <a:pt x="0" y="155829"/>
                  </a:lnTo>
                  <a:lnTo>
                    <a:pt x="6350" y="155829"/>
                  </a:lnTo>
                  <a:lnTo>
                    <a:pt x="0" y="155829"/>
                  </a:lnTo>
                  <a:moveTo>
                    <a:pt x="12700" y="155829"/>
                  </a:moveTo>
                  <a:lnTo>
                    <a:pt x="12700" y="657479"/>
                  </a:lnTo>
                  <a:lnTo>
                    <a:pt x="6350" y="657479"/>
                  </a:lnTo>
                  <a:lnTo>
                    <a:pt x="12700" y="657479"/>
                  </a:lnTo>
                  <a:cubicBezTo>
                    <a:pt x="12700" y="736473"/>
                    <a:pt x="76708" y="800608"/>
                    <a:pt x="155829" y="800608"/>
                  </a:cubicBezTo>
                  <a:lnTo>
                    <a:pt x="657479" y="800608"/>
                  </a:lnTo>
                  <a:cubicBezTo>
                    <a:pt x="736473" y="800608"/>
                    <a:pt x="800608" y="736600"/>
                    <a:pt x="800608" y="657479"/>
                  </a:cubicBezTo>
                  <a:lnTo>
                    <a:pt x="800608" y="155829"/>
                  </a:lnTo>
                  <a:cubicBezTo>
                    <a:pt x="800481" y="76708"/>
                    <a:pt x="736473" y="12700"/>
                    <a:pt x="657352" y="12700"/>
                  </a:cubicBezTo>
                  <a:lnTo>
                    <a:pt x="155829" y="12700"/>
                  </a:lnTo>
                  <a:lnTo>
                    <a:pt x="155829" y="6350"/>
                  </a:lnTo>
                  <a:lnTo>
                    <a:pt x="155829" y="12700"/>
                  </a:lnTo>
                  <a:cubicBezTo>
                    <a:pt x="76708" y="12700"/>
                    <a:pt x="12700" y="76708"/>
                    <a:pt x="12700" y="155829"/>
                  </a:cubicBezTo>
                  <a:close/>
                </a:path>
              </a:pathLst>
            </a:custGeom>
            <a:solidFill>
              <a:srgbClr val="971B5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877952" y="6499469"/>
            <a:ext cx="3139383" cy="40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New (12%)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77952" y="7072608"/>
            <a:ext cx="4485532" cy="87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06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468 customers • 1.0 avg purchase • $52.10 avg spend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3898" y="8516988"/>
            <a:ext cx="16420205" cy="87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062" b="true">
                <a:solidFill>
                  <a:srgbClr val="F20374"/>
                </a:solidFill>
                <a:latin typeface="Overpass Bold"/>
                <a:ea typeface="Overpass Bold"/>
                <a:cs typeface="Overpass Bold"/>
                <a:sym typeface="Overpass Bold"/>
              </a:rPr>
              <a:t>Insight:</a:t>
            </a:r>
            <a:r>
              <a:rPr lang="en-US" sz="2062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88% of customers are Returning or Loyal, indicating strong retention. New customer acquisition should be prioritized to refill the funnel.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5222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85955" y="401841"/>
            <a:ext cx="3700167" cy="4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FFFFFF"/>
                </a:solidFill>
                <a:latin typeface="Overpass Bold"/>
                <a:ea typeface="Overpass Bold"/>
                <a:cs typeface="Overpass Bold"/>
                <a:sym typeface="Overpass Bold"/>
              </a:rPr>
              <a:t>Revenue by Age Group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85955" y="1000868"/>
            <a:ext cx="7753350" cy="6734175"/>
            <a:chOff x="0" y="0"/>
            <a:chExt cx="10337800" cy="89789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337800" cy="8978900"/>
            </a:xfrm>
            <a:custGeom>
              <a:avLst/>
              <a:gdLst/>
              <a:ahLst/>
              <a:cxnLst/>
              <a:rect r="r" b="b" t="t" l="l"/>
              <a:pathLst>
                <a:path h="8978900" w="10337800">
                  <a:moveTo>
                    <a:pt x="0" y="0"/>
                  </a:moveTo>
                  <a:lnTo>
                    <a:pt x="10337800" y="0"/>
                  </a:lnTo>
                  <a:lnTo>
                    <a:pt x="10337800" y="8978900"/>
                  </a:lnTo>
                  <a:lnTo>
                    <a:pt x="0" y="897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285955" y="7819130"/>
            <a:ext cx="748008" cy="897579"/>
            <a:chOff x="0" y="0"/>
            <a:chExt cx="997344" cy="119677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997331" cy="1196721"/>
            </a:xfrm>
            <a:custGeom>
              <a:avLst/>
              <a:gdLst/>
              <a:ahLst/>
              <a:cxnLst/>
              <a:rect r="r" b="b" t="t" l="l"/>
              <a:pathLst>
                <a:path h="1196721" w="997331">
                  <a:moveTo>
                    <a:pt x="0" y="0"/>
                  </a:moveTo>
                  <a:lnTo>
                    <a:pt x="997331" y="0"/>
                  </a:lnTo>
                  <a:lnTo>
                    <a:pt x="997331" y="1196721"/>
                  </a:lnTo>
                  <a:lnTo>
                    <a:pt x="0" y="1196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24" t="0" r="-425" b="-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108677" y="7978226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26-35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08677" y="8233467"/>
            <a:ext cx="8893226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$31,500 • 23.1%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85955" y="8716718"/>
            <a:ext cx="748008" cy="897579"/>
            <a:chOff x="0" y="0"/>
            <a:chExt cx="997344" cy="1196772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997331" cy="1196721"/>
            </a:xfrm>
            <a:custGeom>
              <a:avLst/>
              <a:gdLst/>
              <a:ahLst/>
              <a:cxnLst/>
              <a:rect r="r" b="b" t="t" l="l"/>
              <a:pathLst>
                <a:path h="1196721" w="997331">
                  <a:moveTo>
                    <a:pt x="0" y="0"/>
                  </a:moveTo>
                  <a:lnTo>
                    <a:pt x="997331" y="0"/>
                  </a:lnTo>
                  <a:lnTo>
                    <a:pt x="997331" y="1196721"/>
                  </a:lnTo>
                  <a:lnTo>
                    <a:pt x="0" y="1196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24" t="0" r="-425" b="-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108677" y="8875814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36-45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08677" y="9131056"/>
            <a:ext cx="8893226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$29,700 • 21.7%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285955" y="9614297"/>
            <a:ext cx="748008" cy="897579"/>
            <a:chOff x="0" y="0"/>
            <a:chExt cx="997344" cy="1196772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997331" cy="1196721"/>
            </a:xfrm>
            <a:custGeom>
              <a:avLst/>
              <a:gdLst/>
              <a:ahLst/>
              <a:cxnLst/>
              <a:rect r="r" b="b" t="t" l="l"/>
              <a:pathLst>
                <a:path h="1196721" w="997331">
                  <a:moveTo>
                    <a:pt x="0" y="0"/>
                  </a:moveTo>
                  <a:lnTo>
                    <a:pt x="997331" y="0"/>
                  </a:lnTo>
                  <a:lnTo>
                    <a:pt x="997331" y="1196721"/>
                  </a:lnTo>
                  <a:lnTo>
                    <a:pt x="0" y="1196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4" t="0" r="-425" b="-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108677" y="9773393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46-55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08677" y="10028634"/>
            <a:ext cx="8893226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$24,600 • 18.0%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285955" y="10511876"/>
            <a:ext cx="748008" cy="897579"/>
            <a:chOff x="0" y="0"/>
            <a:chExt cx="997344" cy="1196772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997331" cy="1196721"/>
            </a:xfrm>
            <a:custGeom>
              <a:avLst/>
              <a:gdLst/>
              <a:ahLst/>
              <a:cxnLst/>
              <a:rect r="r" b="b" t="t" l="l"/>
              <a:pathLst>
                <a:path h="1196721" w="997331">
                  <a:moveTo>
                    <a:pt x="0" y="0"/>
                  </a:moveTo>
                  <a:lnTo>
                    <a:pt x="997331" y="0"/>
                  </a:lnTo>
                  <a:lnTo>
                    <a:pt x="997331" y="1196721"/>
                  </a:lnTo>
                  <a:lnTo>
                    <a:pt x="0" y="1196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24" t="0" r="-425" b="-4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108677" y="10670972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56-65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08677" y="10926213"/>
            <a:ext cx="8893226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$18,900 • 13.8%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285955" y="11409464"/>
            <a:ext cx="748008" cy="897579"/>
            <a:chOff x="0" y="0"/>
            <a:chExt cx="997344" cy="1196772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997331" cy="1196721"/>
            </a:xfrm>
            <a:custGeom>
              <a:avLst/>
              <a:gdLst/>
              <a:ahLst/>
              <a:cxnLst/>
              <a:rect r="r" b="b" t="t" l="l"/>
              <a:pathLst>
                <a:path h="1196721" w="997331">
                  <a:moveTo>
                    <a:pt x="0" y="0"/>
                  </a:moveTo>
                  <a:lnTo>
                    <a:pt x="997331" y="0"/>
                  </a:lnTo>
                  <a:lnTo>
                    <a:pt x="997331" y="1196721"/>
                  </a:lnTo>
                  <a:lnTo>
                    <a:pt x="0" y="1196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4" t="0" r="-425" b="-4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108677" y="11568560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18-25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08677" y="11823802"/>
            <a:ext cx="8893226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$18,200 • 13.3%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285955" y="12307043"/>
            <a:ext cx="748008" cy="897579"/>
            <a:chOff x="0" y="0"/>
            <a:chExt cx="997344" cy="1196772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997331" cy="1196721"/>
            </a:xfrm>
            <a:custGeom>
              <a:avLst/>
              <a:gdLst/>
              <a:ahLst/>
              <a:cxnLst/>
              <a:rect r="r" b="b" t="t" l="l"/>
              <a:pathLst>
                <a:path h="1196721" w="997331">
                  <a:moveTo>
                    <a:pt x="0" y="0"/>
                  </a:moveTo>
                  <a:lnTo>
                    <a:pt x="997331" y="0"/>
                  </a:lnTo>
                  <a:lnTo>
                    <a:pt x="997331" y="1196721"/>
                  </a:lnTo>
                  <a:lnTo>
                    <a:pt x="0" y="1196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24" t="0" r="-425" b="-4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108677" y="12466139"/>
            <a:ext cx="1760039" cy="210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E5E0DF"/>
                </a:solidFill>
                <a:latin typeface="Overpass Bold"/>
                <a:ea typeface="Overpass Bold"/>
                <a:cs typeface="Overpass Bold"/>
                <a:sym typeface="Overpass Bold"/>
              </a:rPr>
              <a:t>65+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08677" y="12721380"/>
            <a:ext cx="8893226" cy="17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$13,720 • 10.1%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85955" y="13288718"/>
            <a:ext cx="9715948" cy="358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124" b="true">
                <a:solidFill>
                  <a:srgbClr val="F20374"/>
                </a:solidFill>
                <a:latin typeface="Overpass Bold"/>
                <a:ea typeface="Overpass Bold"/>
                <a:cs typeface="Overpass Bold"/>
                <a:sym typeface="Overpass Bold"/>
              </a:rPr>
              <a:t>Insight:</a:t>
            </a:r>
            <a:r>
              <a:rPr lang="en-US" sz="1124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The 26-45 age range drives nearly 45% of total revenue. Marketing budgets should be weighted toward this cohort while nurturing the growing 18-25 segment.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DAHDrBYzJXo</dc:identifier>
  <dcterms:modified xsi:type="dcterms:W3CDTF">2011-08-01T06:04:30Z</dcterms:modified>
  <cp:revision>1</cp:revision>
  <dc:title>Customer-Behavior-Analysis-Report.pptx</dc:title>
</cp:coreProperties>
</file>